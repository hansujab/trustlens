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for 5 seconds. Say the tagline, then cut to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three questions to camera, one beat each. Land the last line, then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beats, one per card. Gesture across the grid; don't read word for 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line before cutting to screen: blind signing becomes informed consent.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over the report UI here: point at each block as you name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One-liner for camera: RPC establishes facts, rules find risks, TinyFish gathers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Research is garnish, the chain is the meal. Say that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Paste live, submit, then follow: headline, movements, fee, findings, evidence, estimate, video, share.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payoff line. Hold 3 seconds, wrap.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1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FB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TRUSTLENS  •  SOLANA TRANSACTION INTELLIGENCE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 what happened.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Inspect what you authorize.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5661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6D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Plain-English explanations of any Solana transaction — with sources, limits stated.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4480560"/>
            <a:ext cx="2560320" cy="777240"/>
          </a:xfrm>
          <a:prstGeom prst="ROUNDED_RECTANGLE">
            <a:avLst>
              <a:gd name="adj" fmla="val 49412"/>
            </a:avLst>
          </a:prstGeom>
          <a:solidFill>
            <a:srgbClr val="315ED8"/>
          </a:solidFill>
          <a:ln w="12700">
            <a:solidFill>
              <a:srgbClr val="315E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448056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474720" y="4480560"/>
            <a:ext cx="2560320" cy="777240"/>
          </a:xfrm>
          <a:prstGeom prst="ROUNDED_RECTANGLE">
            <a:avLst>
              <a:gd name="adj" fmla="val 49412"/>
            </a:avLst>
          </a:prstGeom>
          <a:solidFill>
            <a:srgbClr val="315ED8"/>
          </a:solidFill>
          <a:ln w="12700">
            <a:solidFill>
              <a:srgbClr val="315E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448056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signing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309360" y="4480560"/>
            <a:ext cx="2560320" cy="777240"/>
          </a:xfrm>
          <a:prstGeom prst="ROUNDED_RECTANGLE">
            <a:avLst>
              <a:gd name="adj" fmla="val 49412"/>
            </a:avLst>
          </a:prstGeom>
          <a:solidFill>
            <a:srgbClr val="315ED8"/>
          </a:solidFill>
          <a:ln w="12700">
            <a:solidFill>
              <a:srgbClr val="315E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448056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broadcasting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TrustLens  •  Concept preview  •  Fixture data on demo branch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15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•  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21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approved it. But what did it do?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3383280" cy="2286000"/>
          </a:xfrm>
          <a:prstGeom prst="ROUNDED_RECTANGLE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CE4FF"/>
            </a:solidFill>
            <a:prstDash val="solid"/>
          </a:ln>
          <a:effectLst>
            <a:outerShdw sx="100000" sy="100000" kx="0" ky="0" algn="bl" rotWithShape="0" blurRad="177800" dist="38100" dir="5400000">
              <a:srgbClr val="C9D4EC">
                <a:alpha val="5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15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914400" y="329184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221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just approved something in your wallet — what did it actually do?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297680" y="2377440"/>
            <a:ext cx="3383280" cy="2286000"/>
          </a:xfrm>
          <a:prstGeom prst="ROUNDED_RECTANGLE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CE4FF"/>
            </a:solidFill>
            <a:prstDash val="solid"/>
          </a:ln>
          <a:effectLst>
            <a:outerShdw sx="100000" sy="100000" kx="0" ky="0" algn="bl" rotWithShape="0" blurRad="177800" dist="38100" dir="5400000">
              <a:srgbClr val="C9D4EC">
                <a:alpha val="5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0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15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4572000" y="329184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221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is your transaction hash. Can you read it, or did you just trust the app?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955280" y="2377440"/>
            <a:ext cx="3383280" cy="2286000"/>
          </a:xfrm>
          <a:prstGeom prst="ROUNDED_RECTANGLE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CE4FF"/>
            </a:solidFill>
            <a:prstDash val="solid"/>
          </a:ln>
          <a:effectLst>
            <a:outerShdw sx="100000" sy="100000" kx="0" ky="0" algn="bl" rotWithShape="0" blurRad="177800" dist="38100" dir="5400000">
              <a:srgbClr val="C9D4EC">
                <a:alpha val="5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0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15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8229600" y="329184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221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sends a can't-miss opportunity on-chain — can you verify a word of it?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50292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i="1" dirty="0">
                <a:solidFill>
                  <a:srgbClr val="1221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signing is where most of the money gets lost.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TrustLens  •  Concept preview  •  Fixture data on demo branch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15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•  THE ANSWER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21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TrustLens translates gibberish into evidence.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5303520" cy="1554480"/>
          </a:xfrm>
          <a:prstGeom prst="ROUNDED_RECTANGLE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4FF"/>
            </a:solidFill>
            <a:prstDash val="solid"/>
          </a:ln>
          <a:effectLst>
            <a:outerShdw sx="100000" sy="100000" kx="0" ky="0" algn="bl" rotWithShape="0" blurRad="177800" dist="38100" dir="5400000">
              <a:srgbClr val="C9D4EC">
                <a:alpha val="5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651760"/>
            <a:ext cx="457200" cy="457200"/>
          </a:xfrm>
          <a:prstGeom prst="ELLIPSE">
            <a:avLst/>
          </a:prstGeom>
          <a:solidFill>
            <a:srgbClr val="315ED8"/>
          </a:solidFill>
          <a:ln w="12700">
            <a:solidFill>
              <a:srgbClr val="315E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45920" y="26060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21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moved, who paid the fee, which programs ran — in plain English.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17920" y="2377440"/>
            <a:ext cx="5303520" cy="1554480"/>
          </a:xfrm>
          <a:prstGeom prst="ROUNDED_RECTANGLE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4FF"/>
            </a:solidFill>
            <a:prstDash val="solid"/>
          </a:ln>
          <a:effectLst>
            <a:outerShdw sx="100000" sy="100000" kx="0" ky="0" algn="bl" rotWithShape="0" blurRad="177800" dist="38100" dir="5400000">
              <a:srgbClr val="C9D4EC">
                <a:alpha val="5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0" y="2651760"/>
            <a:ext cx="457200" cy="457200"/>
          </a:xfrm>
          <a:prstGeom prst="ELLIPSE">
            <a:avLst/>
          </a:prstGeom>
          <a:solidFill>
            <a:srgbClr val="315ED8"/>
          </a:solidFill>
          <a:ln w="12700">
            <a:solidFill>
              <a:srgbClr val="315E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223760" y="26060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21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an unsigned transaction BEFORE you sign: simulated, never broadcast.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0080" y="4206240"/>
            <a:ext cx="5303520" cy="1554480"/>
          </a:xfrm>
          <a:prstGeom prst="ROUNDED_RECTANGLE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4FF"/>
            </a:solidFill>
            <a:prstDash val="solid"/>
          </a:ln>
          <a:effectLst>
            <a:outerShdw sx="100000" sy="100000" kx="0" ky="0" algn="bl" rotWithShape="0" blurRad="177800" dist="38100" dir="5400000">
              <a:srgbClr val="C9D4EC">
                <a:alpha val="5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14400" y="4480560"/>
            <a:ext cx="457200" cy="457200"/>
          </a:xfrm>
          <a:prstGeom prst="ELLIPSE">
            <a:avLst/>
          </a:prstGeom>
          <a:solidFill>
            <a:srgbClr val="315ED8"/>
          </a:solidFill>
          <a:ln w="12700">
            <a:solidFill>
              <a:srgbClr val="315E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498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645920" y="44348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21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carries its source; every limit is stated out loud.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217920" y="4206240"/>
            <a:ext cx="5303520" cy="1554480"/>
          </a:xfrm>
          <a:prstGeom prst="ROUNDED_RECTANGLE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4FF"/>
            </a:solidFill>
            <a:prstDash val="solid"/>
          </a:ln>
          <a:effectLst>
            <a:outerShdw sx="100000" sy="100000" kx="0" ky="0" algn="bl" rotWithShape="0" blurRad="177800" dist="38100" dir="5400000">
              <a:srgbClr val="C9D4EC">
                <a:alpha val="5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92240" y="4480560"/>
            <a:ext cx="457200" cy="457200"/>
          </a:xfrm>
          <a:prstGeom prst="ELLIPSE">
            <a:avLst/>
          </a:prstGeom>
          <a:solidFill>
            <a:srgbClr val="315ED8"/>
          </a:solidFill>
          <a:ln w="12700">
            <a:solidFill>
              <a:srgbClr val="315E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4498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223760" y="44348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21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publishes a shareable, dated, cited report.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TrustLens  •  Concept preview  •  Fixture data on demo branch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15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•  WHO IS IT FOR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21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the confused — and those who explain.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3383280" cy="2743200"/>
          </a:xfrm>
          <a:prstGeom prst="ROUNDED_RECTANGLE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4FF"/>
            </a:solidFill>
            <a:prstDash val="solid"/>
          </a:ln>
          <a:effectLst>
            <a:outerShdw sx="100000" sy="100000" kx="0" ky="0" algn="bl" rotWithShape="0" blurRad="177800" dist="38100" dir="5400000">
              <a:srgbClr val="C9D4EC">
                <a:alpha val="5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377440"/>
            <a:ext cx="457200" cy="457200"/>
          </a:xfrm>
          <a:prstGeom prst="ELLIPSE">
            <a:avLst/>
          </a:prstGeom>
          <a:solidFill>
            <a:srgbClr val="315ED8"/>
          </a:solidFill>
          <a:ln w="12700">
            <a:solidFill>
              <a:srgbClr val="315E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395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32004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1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Everyday wallet users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14400" y="38862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69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Facing a confusing approval screen, learning what moved and what is unknown.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297680" y="2377440"/>
            <a:ext cx="3383280" cy="2743200"/>
          </a:xfrm>
          <a:prstGeom prst="ROUNDED_RECTANGLE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4FF"/>
            </a:solidFill>
            <a:prstDash val="solid"/>
          </a:ln>
          <a:effectLst>
            <a:outerShdw sx="100000" sy="100000" kx="0" ky="0" algn="bl" rotWithShape="0" blurRad="177800" dist="38100" dir="5400000">
              <a:srgbClr val="C9D4EC">
                <a:alpha val="5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0" y="2377440"/>
            <a:ext cx="457200" cy="457200"/>
          </a:xfrm>
          <a:prstGeom prst="ELLIPSE">
            <a:avLst/>
          </a:prstGeom>
          <a:solidFill>
            <a:srgbClr val="315ED8"/>
          </a:solidFill>
          <a:ln w="12700">
            <a:solidFill>
              <a:srgbClr val="315E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2395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572000" y="32004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1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dApp users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572000" y="38862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69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Reviewing requested permissions before returning to their wallet to approve.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955280" y="2377440"/>
            <a:ext cx="3383280" cy="2743200"/>
          </a:xfrm>
          <a:prstGeom prst="ROUNDED_RECTANGLE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4FF"/>
            </a:solidFill>
            <a:prstDash val="solid"/>
          </a:ln>
          <a:effectLst>
            <a:outerShdw sx="100000" sy="100000" kx="0" ky="0" algn="bl" rotWithShape="0" blurRad="177800" dist="38100" dir="5400000">
              <a:srgbClr val="C9D4EC">
                <a:alpha val="5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0" y="2377440"/>
            <a:ext cx="457200" cy="457200"/>
          </a:xfrm>
          <a:prstGeom prst="ELLIPSE">
            <a:avLst/>
          </a:prstGeom>
          <a:solidFill>
            <a:srgbClr val="315ED8"/>
          </a:solidFill>
          <a:ln w="12700">
            <a:solidFill>
              <a:srgbClr val="315E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0" y="2395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229600" y="32004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1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&amp; educators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229600" y="38862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69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Investigating public wallets and transactions, then sharing dated, cited reports.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TrustLens  •  Concept preview  •  Fixture data on demo branch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15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•  HOW IT HELPS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21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Blind signing becomes informed consent.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3383280" cy="2743200"/>
          </a:xfrm>
          <a:prstGeom prst="ROUNDED_RECTANGLE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4FF"/>
            </a:solidFill>
            <a:prstDash val="solid"/>
          </a:ln>
          <a:effectLst>
            <a:outerShdw sx="100000" sy="100000" kx="0" ky="0" algn="bl" rotWithShape="0" blurRad="177800" dist="38100" dir="5400000">
              <a:srgbClr val="C9D4EC">
                <a:alpha val="5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6060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15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9718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1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signing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69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Decoded permissions, real simulation outcome, intent-mismatch findings.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297680" y="2377440"/>
            <a:ext cx="3383280" cy="2743200"/>
          </a:xfrm>
          <a:prstGeom prst="ROUNDED_RECTANGLE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4FF"/>
            </a:solidFill>
            <a:prstDash val="solid"/>
          </a:ln>
          <a:effectLst>
            <a:outerShdw sx="100000" sy="100000" kx="0" ky="0" algn="bl" rotWithShape="0" blurRad="177800" dist="38100" dir="5400000">
              <a:srgbClr val="C9D4EC">
                <a:alpha val="5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0" y="26060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15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0" y="29718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1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execution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572000" y="361188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69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Headline, step-by-step effects, exact raw amounts — unknowns stay visible.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955280" y="2377440"/>
            <a:ext cx="3383280" cy="2743200"/>
          </a:xfrm>
          <a:prstGeom prst="ROUNDED_RECTANGLE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4FF"/>
            </a:solidFill>
            <a:prstDash val="solid"/>
          </a:ln>
          <a:effectLst>
            <a:outerShdw sx="100000" sy="100000" kx="0" ky="0" algn="bl" rotWithShape="0" blurRad="177800" dist="38100" dir="5400000">
              <a:srgbClr val="C9D4EC">
                <a:alpha val="5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29600" y="26060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15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0" y="29718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1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Settling disputes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8229600" y="361188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69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 link with evidence, instead of arguing about what happened.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TrustLens  •  Concept preview  •  Fixture data on demo branch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15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•  HOW ANALYSIS WORKS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21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RPC facts go in. Rules and evidence come out.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14600" cy="2377440"/>
          </a:xfrm>
          <a:prstGeom prst="ROUNDED_RECTANGLE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E4FF"/>
            </a:solidFill>
            <a:prstDash val="solid"/>
          </a:ln>
          <a:effectLst>
            <a:outerShdw sx="100000" sy="100000" kx="0" ky="0" algn="bl" rotWithShape="0" blurRad="177800" dist="38100" dir="5400000">
              <a:srgbClr val="C9D4EC">
                <a:alpha val="5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743200"/>
            <a:ext cx="457200" cy="457200"/>
          </a:xfrm>
          <a:prstGeom prst="ELLIPSE">
            <a:avLst/>
          </a:prstGeom>
          <a:solidFill>
            <a:srgbClr val="315ED8"/>
          </a:solidFill>
          <a:ln w="12700">
            <a:solidFill>
              <a:srgbClr val="315E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338328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1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14400" y="388620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969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getTransaction, lossless integers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154680" y="3657600"/>
            <a:ext cx="274320" cy="9144"/>
          </a:xfrm>
          <a:prstGeom prst="LINE">
            <a:avLst/>
          </a:prstGeom>
          <a:noFill/>
          <a:ln w="38100">
            <a:solidFill>
              <a:srgbClr val="315E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29000" y="2468880"/>
            <a:ext cx="2514600" cy="2377440"/>
          </a:xfrm>
          <a:prstGeom prst="ROUNDED_RECTANGLE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E4FF"/>
            </a:solidFill>
            <a:prstDash val="solid"/>
          </a:ln>
          <a:effectLst>
            <a:outerShdw sx="100000" sy="100000" kx="0" ky="0" algn="bl" rotWithShape="0" blurRad="177800" dist="38100" dir="5400000">
              <a:srgbClr val="C9D4EC">
                <a:alpha val="5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03320" y="2743200"/>
            <a:ext cx="457200" cy="457200"/>
          </a:xfrm>
          <a:prstGeom prst="ELLIPSE">
            <a:avLst/>
          </a:prstGeom>
          <a:solidFill>
            <a:srgbClr val="315ED8"/>
          </a:solidFill>
          <a:ln w="12700">
            <a:solidFill>
              <a:srgbClr val="315E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03320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703320" y="338328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1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3703320" y="388620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969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instructions; rest stay Unknown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43600" y="3657600"/>
            <a:ext cx="274320" cy="9144"/>
          </a:xfrm>
          <a:prstGeom prst="LINE">
            <a:avLst/>
          </a:prstGeom>
          <a:noFill/>
          <a:ln w="38100">
            <a:solidFill>
              <a:srgbClr val="315E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2468880"/>
            <a:ext cx="2514600" cy="2377440"/>
          </a:xfrm>
          <a:prstGeom prst="ROUNDED_RECTANGLE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E4FF"/>
            </a:solidFill>
            <a:prstDash val="solid"/>
          </a:ln>
          <a:effectLst>
            <a:outerShdw sx="100000" sy="100000" kx="0" ky="0" algn="bl" rotWithShape="0" blurRad="177800" dist="38100" dir="5400000">
              <a:srgbClr val="C9D4EC">
                <a:alpha val="5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92240" y="2743200"/>
            <a:ext cx="457200" cy="457200"/>
          </a:xfrm>
          <a:prstGeom prst="ELLIPSE">
            <a:avLst/>
          </a:prstGeom>
          <a:solidFill>
            <a:srgbClr val="315ED8"/>
          </a:solidFill>
          <a:ln w="12700">
            <a:solidFill>
              <a:srgbClr val="315E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492240" y="338328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1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492240" y="388620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969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rules, not vibes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732520" y="3657600"/>
            <a:ext cx="274320" cy="9144"/>
          </a:xfrm>
          <a:prstGeom prst="LINE">
            <a:avLst/>
          </a:prstGeom>
          <a:noFill/>
          <a:ln w="38100">
            <a:solidFill>
              <a:srgbClr val="315E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006840" y="2468880"/>
            <a:ext cx="2514600" cy="2377440"/>
          </a:xfrm>
          <a:prstGeom prst="ROUNDED_RECTANGLE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E4FF"/>
            </a:solidFill>
            <a:prstDash val="solid"/>
          </a:ln>
          <a:effectLst>
            <a:outerShdw sx="100000" sy="100000" kx="0" ky="0" algn="bl" rotWithShape="0" blurRad="177800" dist="38100" dir="5400000">
              <a:srgbClr val="C9D4EC">
                <a:alpha val="5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281160" y="2743200"/>
            <a:ext cx="457200" cy="457200"/>
          </a:xfrm>
          <a:prstGeom prst="ELLIPSE">
            <a:avLst/>
          </a:prstGeom>
          <a:solidFill>
            <a:srgbClr val="315ED8"/>
          </a:solidFill>
          <a:ln w="12700">
            <a:solidFill>
              <a:srgbClr val="315E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81160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281160" y="338328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1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9281160" y="388620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969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TinyFish search + fetch, correlated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51206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969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 is assembled from facts by templates — no invented transfers. Optional Jupiter 2-token comparison (±5 min sample), else honest unsupported.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TrustLens  •  Concept preview  •  Fixture data on demo branch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15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•  TINYFISH EVIDENCE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21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Outside claims, correlated — never trusted blindly.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6675120" cy="3291840"/>
          </a:xfrm>
          <a:prstGeom prst="ROUNDED_RECTANGLE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CE4FF"/>
            </a:solidFill>
            <a:prstDash val="solid"/>
          </a:ln>
          <a:effectLst>
            <a:outerShdw sx="100000" sy="100000" kx="0" ky="0" algn="bl" rotWithShape="0" blurRad="177800" dist="38100" dir="5400000">
              <a:srgbClr val="C9D4EC">
                <a:alpha val="5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651760"/>
            <a:ext cx="6126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221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Search: exact mint / program on curated domains (docs, auditors).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221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Fetch: up to 3 pages — URL, title, time, excerpt, match status recorded.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221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Snippets are leads, never evidence. Cached ~1 hr, reused across users.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221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report completes even when research fails.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589520" y="2377440"/>
            <a:ext cx="3931920" cy="3291840"/>
          </a:xfrm>
          <a:prstGeom prst="ROUNDED_RECTANGLE">
            <a:avLst>
              <a:gd name="adj" fmla="val 3333"/>
            </a:avLst>
          </a:prstGeom>
          <a:solidFill>
            <a:srgbClr val="EAF0FF"/>
          </a:solidFill>
          <a:ln w="12700">
            <a:solidFill>
              <a:srgbClr val="DCE4FF"/>
            </a:solidFill>
            <a:prstDash val="solid"/>
          </a:ln>
          <a:effectLst>
            <a:outerShdw sx="100000" sy="100000" kx="0" ky="0" algn="bl" rotWithShape="0" blurRad="177800" dist="38100" dir="5400000">
              <a:srgbClr val="C9D4EC">
                <a:alpha val="5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863840" y="2606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315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863840" y="3017520"/>
            <a:ext cx="3383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221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Certify ownership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221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 safe or scam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221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 chain facts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221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wallets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TrustLens  •  Concept preview  •  Fixture data on demo branch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15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•  LIVE DEMO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21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Swapped 2.4 SOL for 312.86 USDC via Jupiter.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1554480"/>
          </a:xfrm>
          <a:prstGeom prst="ROUNDED_RECTANGLE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4FF"/>
            </a:solidFill>
            <a:prstDash val="solid"/>
          </a:ln>
          <a:effectLst>
            <a:outerShdw sx="100000" sy="100000" kx="0" ky="0" algn="bl" rotWithShape="0" blurRad="177800" dist="38100" dir="5400000">
              <a:srgbClr val="C9D4EC">
                <a:alpha val="5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37744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15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2.4 SOL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30632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69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2194560"/>
            <a:ext cx="3383280" cy="1554480"/>
          </a:xfrm>
          <a:prstGeom prst="ROUNDED_RECTANGLE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4FF"/>
            </a:solidFill>
            <a:prstDash val="solid"/>
          </a:ln>
          <a:effectLst>
            <a:outerShdw sx="100000" sy="100000" kx="0" ky="0" algn="bl" rotWithShape="0" blurRad="177800" dist="38100" dir="5400000">
              <a:srgbClr val="C9D4EC">
                <a:alpha val="5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0" y="237744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15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312.86 USDC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0" y="30632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69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955280" y="2194560"/>
            <a:ext cx="3383280" cy="1554480"/>
          </a:xfrm>
          <a:prstGeom prst="ROUNDED_RECTANGLE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4FF"/>
            </a:solidFill>
            <a:prstDash val="solid"/>
          </a:ln>
          <a:effectLst>
            <a:outerShdw sx="100000" sy="100000" kx="0" ky="0" algn="bl" rotWithShape="0" blurRad="177800" dist="38100" dir="5400000">
              <a:srgbClr val="C9D4EC">
                <a:alpha val="5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0" y="237744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15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−0.34%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229600" y="30632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69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execution sample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023360"/>
            <a:ext cx="10881360" cy="1554480"/>
          </a:xfrm>
          <a:prstGeom prst="ROUNDED_RECTANGLE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4FF"/>
            </a:solidFill>
            <a:prstDash val="solid"/>
          </a:ln>
          <a:effectLst>
            <a:outerShdw sx="100000" sy="100000" kx="0" ky="0" algn="bl" rotWithShape="0" blurRad="177800" dist="38100" dir="5400000">
              <a:srgbClr val="C9D4EC">
                <a:alpha val="5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4400" y="420624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15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 •  mode = transaction, cluster = mainnet-beta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4572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1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5nP5QNB2W7butQry6BjutpcQap35rAuvbKKs41mjnqBQt3H9iqMYr9Q4zJHDNPUgGFZXngFe1P3cG5aChDik23FP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14400" y="498348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6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http://127.0.0.1:5173/?demo=1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TrustLens  •  Concept preview  •  Fixture data on demo branch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21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FB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•  HONEST LIMITS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review tool — not a scam detector.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2468880"/>
            <a:ext cx="10881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instructions stay unknown. Null RPC means not found at that provider — not nonexistent.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audit, no investment advice, no safety certification. USD values are estimates.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uses scripted fixtures, labeled CONCEPT PREVIEW throughout.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retention worker, rate limiting, backups, archival RPC, Postgres migration.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52120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i="1" dirty="0">
                <a:solidFill>
                  <a:srgbClr val="8FB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signing becomes informed consent.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TrustLens  •  Concept preview  •  Fixture data on demo branch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TrustLens — Solana transaction intelligence</dc:title>
  <dc:subject>PptxGenJS Presentation</dc:subject>
  <dc:creator>TrustLens demo branch</dc:creator>
  <cp:lastModifiedBy>TrustLens demo branch</cp:lastModifiedBy>
  <cp:revision>1</cp:revision>
  <dcterms:created xsi:type="dcterms:W3CDTF">2026-10-22T17:50:51Z</dcterms:created>
  <dcterms:modified xsi:type="dcterms:W3CDTF">2026-10-22T17:50:51Z</dcterms:modified>
</cp:coreProperties>
</file>